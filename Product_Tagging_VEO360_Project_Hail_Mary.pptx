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66"/>
    <p:restoredTop sz="94637"/>
  </p:normalViewPr>
  <p:slideViewPr>
    <p:cSldViewPr snapToGrid="0" snapToObjects="1">
      <p:cViewPr varScale="1">
        <p:scale>
          <a:sx n="71" d="100"/>
          <a:sy n="71" d="100"/>
        </p:scale>
        <p:origin x="200" y="8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3400" b="1">
                <a:solidFill>
                  <a:srgbClr val="FFFFFF"/>
                </a:solidFill>
              </a:defRPr>
            </a:pPr>
            <a:r>
              <a:t>Product Tagging in VEO360</a:t>
            </a:r>
            <a:br/>
            <a:r>
              <a:t>Digital Twin Using Object Recognition</a:t>
            </a:r>
          </a:p>
          <a:p>
            <a:pPr>
              <a:defRPr sz="2200">
                <a:solidFill>
                  <a:srgbClr val="BED7F0"/>
                </a:solidFill>
              </a:defRPr>
            </a:pPr>
            <a:r>
              <a:t>Project Hail 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663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VEO Hackathon Challenge  |  Pradip Nath &amp; Thang Ngo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C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</a:defRPr>
            </a:pPr>
            <a:r>
              <a:t>An automated computer vision and document-linking pipeline for industrial digital twins.</a:t>
            </a:r>
          </a:p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</a:defRPr>
            </a:pPr>
            <a:r>
              <a:t>Bridges the gap between clean master product imagery and complex industrial point-cloud environments.</a:t>
            </a:r>
          </a:p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</a:defRPr>
            </a:pPr>
            <a:r>
              <a:t>Automatically detects assets, reads identifiers, locates equipment in 3D scans, and links technical documentation.</a:t>
            </a:r>
          </a:p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</a:defRPr>
            </a:pPr>
            <a:r>
              <a:t>Designed to reduce manual tagging effort and support scalable deployment across industrial sites.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Business 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</a:defRPr>
            </a:pPr>
            <a:r>
              <a:t>Industrial digital twins often depend on manual asset tagging.</a:t>
            </a:r>
          </a:p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</a:defRPr>
            </a:pPr>
            <a:r>
              <a:t>Manual tagging can cause human error, slow site deployment, and increase operational costs.</a:t>
            </a:r>
          </a:p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</a:defRPr>
            </a:pPr>
            <a:r>
              <a:t>Real-world labeled industrial datasets are limited, making scalable computer vision difficult.</a:t>
            </a:r>
          </a:p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</a:defRPr>
            </a:pPr>
            <a:r>
              <a:t>The project addresses these constraints by generating realistic training data from clean reference imagery.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Core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468880" cy="3017520"/>
          </a:xfrm>
          <a:prstGeom prst="roundRect">
            <a:avLst/>
          </a:prstGeom>
          <a:solidFill>
            <a:srgbClr val="F1F6FB"/>
          </a:solidFill>
          <a:ln>
            <a:solidFill>
              <a:srgbClr val="26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2011680"/>
            <a:ext cx="1876796" cy="1564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660A0"/>
                </a:solidFill>
              </a:defRPr>
            </a:pPr>
            <a:r>
              <a:rPr dirty="0"/>
              <a:t>1</a:t>
            </a:r>
          </a:p>
          <a:p>
            <a:pPr>
              <a:defRPr sz="1900" b="1">
                <a:solidFill>
                  <a:srgbClr val="12233A"/>
                </a:solidFill>
              </a:defRPr>
            </a:pPr>
            <a:r>
              <a:rPr dirty="0"/>
              <a:t>Reference Image</a:t>
            </a:r>
          </a:p>
          <a:p>
            <a:pPr>
              <a:spcBef>
                <a:spcPts val="1000"/>
              </a:spcBef>
              <a:defRPr sz="1500">
                <a:solidFill>
                  <a:srgbClr val="232B34"/>
                </a:solidFill>
              </a:defRPr>
            </a:pPr>
            <a:r>
              <a:rPr dirty="0"/>
              <a:t>Clean ABB REX615 </a:t>
            </a:r>
            <a:endParaRPr lang="sv-SE" dirty="0"/>
          </a:p>
          <a:p>
            <a:pPr>
              <a:spcBef>
                <a:spcPts val="1000"/>
              </a:spcBef>
              <a:defRPr sz="1500">
                <a:solidFill>
                  <a:srgbClr val="232B34"/>
                </a:solidFill>
              </a:defRPr>
            </a:pPr>
            <a:r>
              <a:rPr dirty="0"/>
              <a:t>product imagery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02152" y="1828800"/>
            <a:ext cx="2468880" cy="3017520"/>
          </a:xfrm>
          <a:prstGeom prst="roundRect">
            <a:avLst/>
          </a:prstGeom>
          <a:solidFill>
            <a:srgbClr val="F1F6FB"/>
          </a:solidFill>
          <a:ln>
            <a:solidFill>
              <a:srgbClr val="26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66744" y="2011680"/>
            <a:ext cx="1822678" cy="1564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660A0"/>
                </a:solidFill>
              </a:defRPr>
            </a:pPr>
            <a:r>
              <a:rPr dirty="0"/>
              <a:t>2</a:t>
            </a:r>
          </a:p>
          <a:p>
            <a:pPr>
              <a:defRPr sz="1900" b="1">
                <a:solidFill>
                  <a:srgbClr val="12233A"/>
                </a:solidFill>
              </a:defRPr>
            </a:pPr>
            <a:r>
              <a:rPr dirty="0"/>
              <a:t>Synthetic Data</a:t>
            </a:r>
          </a:p>
          <a:p>
            <a:pPr>
              <a:spcBef>
                <a:spcPts val="1000"/>
              </a:spcBef>
              <a:defRPr sz="1500">
                <a:solidFill>
                  <a:srgbClr val="232B34"/>
                </a:solidFill>
              </a:defRPr>
            </a:pPr>
            <a:r>
              <a:rPr dirty="0"/>
              <a:t>Domain-randomized </a:t>
            </a:r>
            <a:endParaRPr lang="sv-SE" dirty="0"/>
          </a:p>
          <a:p>
            <a:pPr>
              <a:spcBef>
                <a:spcPts val="1000"/>
              </a:spcBef>
              <a:defRPr sz="1500">
                <a:solidFill>
                  <a:srgbClr val="232B34"/>
                </a:solidFill>
              </a:defRPr>
            </a:pPr>
            <a:r>
              <a:rPr dirty="0"/>
              <a:t>industrial scenes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18504" y="1828800"/>
            <a:ext cx="2468880" cy="3017520"/>
          </a:xfrm>
          <a:prstGeom prst="roundRect">
            <a:avLst/>
          </a:prstGeom>
          <a:solidFill>
            <a:srgbClr val="F1F6FB"/>
          </a:solidFill>
          <a:ln>
            <a:solidFill>
              <a:srgbClr val="26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83096" y="2011680"/>
            <a:ext cx="1837554" cy="1564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660A0"/>
                </a:solidFill>
              </a:defRPr>
            </a:pPr>
            <a:r>
              <a:rPr dirty="0"/>
              <a:t>3</a:t>
            </a:r>
          </a:p>
          <a:p>
            <a:pPr>
              <a:defRPr sz="1900" b="1">
                <a:solidFill>
                  <a:srgbClr val="12233A"/>
                </a:solidFill>
              </a:defRPr>
            </a:pPr>
            <a:r>
              <a:rPr dirty="0"/>
              <a:t>Detection + OCR</a:t>
            </a:r>
          </a:p>
          <a:p>
            <a:pPr>
              <a:spcBef>
                <a:spcPts val="1000"/>
              </a:spcBef>
              <a:defRPr sz="1500">
                <a:solidFill>
                  <a:srgbClr val="232B34"/>
                </a:solidFill>
              </a:defRPr>
            </a:pPr>
            <a:r>
              <a:rPr dirty="0"/>
              <a:t>YOLOv8 finds assets; </a:t>
            </a:r>
            <a:endParaRPr lang="sv-SE" dirty="0"/>
          </a:p>
          <a:p>
            <a:pPr>
              <a:spcBef>
                <a:spcPts val="1000"/>
              </a:spcBef>
              <a:defRPr sz="1500">
                <a:solidFill>
                  <a:srgbClr val="232B34"/>
                </a:solidFill>
              </a:defRPr>
            </a:pPr>
            <a:r>
              <a:rPr dirty="0"/>
              <a:t>OCR reads labels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34856" y="1828800"/>
            <a:ext cx="2468880" cy="3017520"/>
          </a:xfrm>
          <a:prstGeom prst="roundRect">
            <a:avLst/>
          </a:prstGeom>
          <a:solidFill>
            <a:srgbClr val="F1F6FB"/>
          </a:solidFill>
          <a:ln>
            <a:solidFill>
              <a:srgbClr val="26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99448" y="2011680"/>
            <a:ext cx="1771639" cy="1564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660A0"/>
                </a:solidFill>
              </a:defRPr>
            </a:pPr>
            <a:r>
              <a:rPr dirty="0"/>
              <a:t>4</a:t>
            </a:r>
          </a:p>
          <a:p>
            <a:pPr>
              <a:defRPr sz="1900" b="1">
                <a:solidFill>
                  <a:srgbClr val="12233A"/>
                </a:solidFill>
              </a:defRPr>
            </a:pPr>
            <a:r>
              <a:rPr dirty="0"/>
              <a:t>3D Tagging</a:t>
            </a:r>
          </a:p>
          <a:p>
            <a:pPr>
              <a:spcBef>
                <a:spcPts val="1000"/>
              </a:spcBef>
              <a:defRPr sz="1500">
                <a:solidFill>
                  <a:srgbClr val="232B34"/>
                </a:solidFill>
              </a:defRPr>
            </a:pPr>
            <a:r>
              <a:rPr dirty="0"/>
              <a:t>Scan location linked </a:t>
            </a:r>
            <a:endParaRPr lang="sv-SE" dirty="0"/>
          </a:p>
          <a:p>
            <a:pPr>
              <a:spcBef>
                <a:spcPts val="1000"/>
              </a:spcBef>
              <a:defRPr sz="1500">
                <a:solidFill>
                  <a:srgbClr val="232B34"/>
                </a:solidFill>
              </a:defRPr>
            </a:pPr>
            <a:r>
              <a:rPr dirty="0"/>
              <a:t>to documents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Architecture &amp; Pipeline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011680"/>
            <a:ext cx="1920240" cy="1920240"/>
          </a:xfrm>
          <a:prstGeom prst="roundRect">
            <a:avLst/>
          </a:prstGeom>
          <a:solidFill>
            <a:srgbClr val="F1F6FB"/>
          </a:solidFill>
          <a:ln>
            <a:solidFill>
              <a:srgbClr val="26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8" y="2240280"/>
            <a:ext cx="1700784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2233A"/>
                </a:solidFill>
              </a:defRPr>
            </a:pPr>
            <a:r>
              <a:t>Clean Reference</a:t>
            </a:r>
            <a:br/>
            <a:r>
              <a:t>Image</a:t>
            </a:r>
          </a:p>
          <a:p>
            <a:pPr algn="ctr">
              <a:defRPr sz="1200">
                <a:solidFill>
                  <a:srgbClr val="232B34"/>
                </a:solidFill>
              </a:defRPr>
            </a:pPr>
            <a:r>
              <a:t>ABB REX615</a:t>
            </a:r>
          </a:p>
        </p:txBody>
      </p:sp>
      <p:sp>
        <p:nvSpPr>
          <p:cNvPr id="6" name="Chevron 5"/>
          <p:cNvSpPr/>
          <p:nvPr/>
        </p:nvSpPr>
        <p:spPr>
          <a:xfrm>
            <a:off x="2377440" y="2606040"/>
            <a:ext cx="320040" cy="640080"/>
          </a:xfrm>
          <a:prstGeom prst="chevron">
            <a:avLst/>
          </a:prstGeom>
          <a:solidFill>
            <a:srgbClr val="4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0" y="2011680"/>
            <a:ext cx="1920240" cy="1920240"/>
          </a:xfrm>
          <a:prstGeom prst="roundRect">
            <a:avLst/>
          </a:prstGeom>
          <a:solidFill>
            <a:srgbClr val="F1F6FB"/>
          </a:solidFill>
          <a:ln>
            <a:solidFill>
              <a:srgbClr val="26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52928" y="2240280"/>
            <a:ext cx="1700784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2233A"/>
                </a:solidFill>
              </a:defRPr>
            </a:pPr>
            <a:r>
              <a:t>Synthetic Data</a:t>
            </a:r>
            <a:br/>
            <a:r>
              <a:t>Generator</a:t>
            </a:r>
          </a:p>
          <a:p>
            <a:pPr algn="ctr">
              <a:defRPr sz="1200">
                <a:solidFill>
                  <a:srgbClr val="232B34"/>
                </a:solidFill>
              </a:defRPr>
            </a:pPr>
            <a:r>
              <a:t>Domain randomization</a:t>
            </a:r>
          </a:p>
        </p:txBody>
      </p:sp>
      <p:sp>
        <p:nvSpPr>
          <p:cNvPr id="9" name="Chevron 8"/>
          <p:cNvSpPr/>
          <p:nvPr/>
        </p:nvSpPr>
        <p:spPr>
          <a:xfrm>
            <a:off x="4709160" y="2606040"/>
            <a:ext cx="320040" cy="640080"/>
          </a:xfrm>
          <a:prstGeom prst="chevron">
            <a:avLst/>
          </a:prstGeom>
          <a:solidFill>
            <a:srgbClr val="4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74920" y="2011680"/>
            <a:ext cx="1920240" cy="1920240"/>
          </a:xfrm>
          <a:prstGeom prst="roundRect">
            <a:avLst/>
          </a:prstGeom>
          <a:solidFill>
            <a:srgbClr val="F1F6FB"/>
          </a:solidFill>
          <a:ln>
            <a:solidFill>
              <a:srgbClr val="26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84648" y="2240280"/>
            <a:ext cx="1700784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2233A"/>
                </a:solidFill>
              </a:defRPr>
            </a:pPr>
            <a:r>
              <a:t>YOLOv8 + OCR</a:t>
            </a:r>
            <a:br/>
            <a:r>
              <a:t>Detector</a:t>
            </a:r>
          </a:p>
          <a:p>
            <a:pPr algn="ctr">
              <a:defRPr sz="1200">
                <a:solidFill>
                  <a:srgbClr val="232B34"/>
                </a:solidFill>
              </a:defRPr>
            </a:pPr>
            <a:r>
              <a:t>Detection &amp; text</a:t>
            </a:r>
          </a:p>
        </p:txBody>
      </p:sp>
      <p:sp>
        <p:nvSpPr>
          <p:cNvPr id="12" name="Chevron 11"/>
          <p:cNvSpPr/>
          <p:nvPr/>
        </p:nvSpPr>
        <p:spPr>
          <a:xfrm>
            <a:off x="7040879" y="2606040"/>
            <a:ext cx="320040" cy="640080"/>
          </a:xfrm>
          <a:prstGeom prst="chevron">
            <a:avLst/>
          </a:prstGeom>
          <a:solidFill>
            <a:srgbClr val="4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06640" y="2011680"/>
            <a:ext cx="1920240" cy="1920240"/>
          </a:xfrm>
          <a:prstGeom prst="roundRect">
            <a:avLst/>
          </a:prstGeom>
          <a:solidFill>
            <a:srgbClr val="F1F6FB"/>
          </a:solidFill>
          <a:ln>
            <a:solidFill>
              <a:srgbClr val="26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16367" y="2240280"/>
            <a:ext cx="1700784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2233A"/>
                </a:solidFill>
              </a:defRPr>
            </a:pPr>
            <a:r>
              <a:t>Matterport / E57</a:t>
            </a:r>
            <a:br/>
            <a:r>
              <a:t>Scan</a:t>
            </a:r>
          </a:p>
          <a:p>
            <a:pPr algn="ctr">
              <a:defRPr sz="1200">
                <a:solidFill>
                  <a:srgbClr val="232B34"/>
                </a:solidFill>
              </a:defRPr>
            </a:pPr>
            <a:r>
              <a:t>3D environment</a:t>
            </a:r>
          </a:p>
        </p:txBody>
      </p:sp>
      <p:sp>
        <p:nvSpPr>
          <p:cNvPr id="15" name="Chevron 14"/>
          <p:cNvSpPr/>
          <p:nvPr/>
        </p:nvSpPr>
        <p:spPr>
          <a:xfrm>
            <a:off x="9372600" y="2606040"/>
            <a:ext cx="320040" cy="640080"/>
          </a:xfrm>
          <a:prstGeom prst="chevron">
            <a:avLst/>
          </a:prstGeom>
          <a:solidFill>
            <a:srgbClr val="48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738359" y="2011680"/>
            <a:ext cx="1920240" cy="1920240"/>
          </a:xfrm>
          <a:prstGeom prst="roundRect">
            <a:avLst/>
          </a:prstGeom>
          <a:solidFill>
            <a:srgbClr val="F1F6FB"/>
          </a:solidFill>
          <a:ln>
            <a:solidFill>
              <a:srgbClr val="26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48087" y="2240280"/>
            <a:ext cx="1700784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2233A"/>
                </a:solidFill>
              </a:defRPr>
            </a:pPr>
            <a:r>
              <a:t>Interactive 3D Tag</a:t>
            </a:r>
            <a:br/>
            <a:r>
              <a:t>&amp; Documents</a:t>
            </a:r>
          </a:p>
          <a:p>
            <a:pPr algn="ctr">
              <a:defRPr sz="1200">
                <a:solidFill>
                  <a:srgbClr val="232B34"/>
                </a:solidFill>
              </a:defRPr>
            </a:pPr>
            <a:r>
              <a:t>Asset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1663" y="4389120"/>
            <a:ext cx="115266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32B34"/>
                </a:solidFill>
              </a:defRPr>
            </a:pPr>
            <a:r>
              <a:rPr lang="en-GB" dirty="0"/>
              <a:t>The pipeline converts a clean product reference into robust detection models and then maps detected assets into the 3D digital twin.</a:t>
            </a:r>
          </a:p>
          <a:p>
            <a:pPr algn="ctr">
              <a:defRPr sz="1800">
                <a:solidFill>
                  <a:srgbClr val="232B34"/>
                </a:solidFill>
              </a:defRPr>
            </a:pP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How the Pipeline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32B34"/>
                </a:solidFill>
              </a:defRPr>
            </a:pPr>
            <a:r>
              <a:rPr dirty="0"/>
              <a:t>Synthetic Data Generation — applies affine transformations, lens artifacts, lighting variation, occlusions, and background blending.</a:t>
            </a:r>
          </a:p>
          <a:p>
            <a:pPr>
              <a:spcAft>
                <a:spcPts val="1200"/>
              </a:spcAft>
              <a:defRPr sz="1700" b="0">
                <a:solidFill>
                  <a:srgbClr val="232B34"/>
                </a:solidFill>
              </a:defRPr>
            </a:pPr>
            <a:r>
              <a:rPr dirty="0"/>
              <a:t>Model Training &amp; Text Extraction — trains YOLOv8 to locate the relay and panel labels; OCR reads identifiers such as “615</a:t>
            </a:r>
            <a:r>
              <a:rPr lang="sv-SE" dirty="0"/>
              <a:t> </a:t>
            </a:r>
            <a:r>
              <a:rPr dirty="0"/>
              <a:t>ABB</a:t>
            </a:r>
            <a:r>
              <a:rPr lang="sv-SE" dirty="0"/>
              <a:t> RELAY</a:t>
            </a:r>
            <a:r>
              <a:rPr dirty="0"/>
              <a:t>”.</a:t>
            </a:r>
          </a:p>
          <a:p>
            <a:pPr>
              <a:spcAft>
                <a:spcPts val="1200"/>
              </a:spcAft>
              <a:defRPr sz="1700" b="0">
                <a:solidFill>
                  <a:srgbClr val="232B34"/>
                </a:solidFill>
              </a:defRPr>
            </a:pPr>
            <a:r>
              <a:rPr dirty="0"/>
              <a:t>Digital Twin Extraction — parses cloud_0.e57 point-cloud data to obtain 2D equirectangular / panoramic scan perspectives.</a:t>
            </a:r>
          </a:p>
          <a:p>
            <a:pPr>
              <a:spcAft>
                <a:spcPts val="1200"/>
              </a:spcAft>
              <a:defRPr sz="1700" b="0">
                <a:solidFill>
                  <a:srgbClr val="232B34"/>
                </a:solidFill>
              </a:defRPr>
            </a:pPr>
            <a:r>
              <a:rPr dirty="0"/>
              <a:t>Asset Matching &amp; 3D Tagging — matches extracted text with technical datasheets/manuals and computes 3D anchor coordinates.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Data, Models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32B34"/>
                </a:solidFill>
              </a:defRPr>
            </a:pPr>
            <a:r>
              <a:t>Reference asset: ABB REX615 relay master product imagery.</a:t>
            </a:r>
          </a:p>
          <a:p>
            <a:pPr>
              <a:spcAft>
                <a:spcPts val="1200"/>
              </a:spcAft>
              <a:defRPr sz="1700" b="0">
                <a:solidFill>
                  <a:srgbClr val="232B34"/>
                </a:solidFill>
              </a:defRPr>
            </a:pPr>
            <a:r>
              <a:t>Synthetic dataset: YOLO-format annotations with industrial background compositing.</a:t>
            </a:r>
          </a:p>
          <a:p>
            <a:pPr>
              <a:spcAft>
                <a:spcPts val="1200"/>
              </a:spcAft>
              <a:defRPr sz="1700" b="0">
                <a:solidFill>
                  <a:srgbClr val="232B34"/>
                </a:solidFill>
              </a:defRPr>
            </a:pPr>
            <a:r>
              <a:t>Scan input: cloud_0.e57 point-cloud file with extracted panoramas.</a:t>
            </a:r>
          </a:p>
          <a:p>
            <a:pPr>
              <a:spcAft>
                <a:spcPts val="1200"/>
              </a:spcAft>
              <a:defRPr sz="1700" b="0">
                <a:solidFill>
                  <a:srgbClr val="232B34"/>
                </a:solidFill>
              </a:defRPr>
            </a:pPr>
            <a:r>
              <a:t>Computer vision: YOLOv8 + OCR.</a:t>
            </a:r>
          </a:p>
          <a:p>
            <a:pPr>
              <a:spcAft>
                <a:spcPts val="1200"/>
              </a:spcAft>
              <a:defRPr sz="1700" b="0">
                <a:solidFill>
                  <a:srgbClr val="232B34"/>
                </a:solidFill>
              </a:defRPr>
            </a:pPr>
            <a:r>
              <a:t>Python ecosystem in the README: Ultralytics, Albumentations, OpenCV, NumPy, pye57, EasyOCR, Pillow.</a:t>
            </a:r>
          </a:p>
          <a:p>
            <a:pPr>
              <a:spcAft>
                <a:spcPts val="1200"/>
              </a:spcAft>
              <a:defRPr sz="1700" b="0">
                <a:solidFill>
                  <a:srgbClr val="232B34"/>
                </a:solidFill>
              </a:defRPr>
            </a:pPr>
            <a:r>
              <a:t>Output: interactive 3D tags connected to an asset/document registry.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Demo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029200" cy="1645920"/>
          </a:xfrm>
          <a:prstGeom prst="roundRect">
            <a:avLst/>
          </a:prstGeom>
          <a:solidFill>
            <a:srgbClr val="F1F6FB"/>
          </a:solidFill>
          <a:ln>
            <a:solidFill>
              <a:srgbClr val="26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572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60A0"/>
                </a:solidFill>
              </a:defRPr>
            </a:pPr>
            <a:r>
              <a:t>1,000+</a:t>
            </a:r>
          </a:p>
          <a:p>
            <a:pPr>
              <a:defRPr sz="1500">
                <a:solidFill>
                  <a:srgbClr val="232B34"/>
                </a:solidFill>
              </a:defRPr>
            </a:pPr>
            <a:r>
              <a:t>synthetic industrial training samples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00200"/>
            <a:ext cx="5029200" cy="1645920"/>
          </a:xfrm>
          <a:prstGeom prst="roundRect">
            <a:avLst/>
          </a:prstGeom>
          <a:solidFill>
            <a:srgbClr val="F1F6FB"/>
          </a:solidFill>
          <a:ln>
            <a:solidFill>
              <a:srgbClr val="26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572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60A0"/>
                </a:solidFill>
              </a:defRPr>
            </a:pPr>
            <a:r>
              <a:t>Real scans</a:t>
            </a:r>
          </a:p>
          <a:p>
            <a:pPr>
              <a:defRPr sz="1500">
                <a:solidFill>
                  <a:srgbClr val="232B34"/>
                </a:solidFill>
              </a:defRPr>
            </a:pPr>
            <a:r>
              <a:t>robust detection demonstrated on Matterport frames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029200" cy="1645920"/>
          </a:xfrm>
          <a:prstGeom prst="roundRect">
            <a:avLst/>
          </a:prstGeom>
          <a:solidFill>
            <a:srgbClr val="F1F6FB"/>
          </a:solidFill>
          <a:ln>
            <a:solidFill>
              <a:srgbClr val="26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977639"/>
            <a:ext cx="4572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60A0"/>
                </a:solidFill>
              </a:defRPr>
            </a:pPr>
            <a:r>
              <a:t>No site labels</a:t>
            </a:r>
          </a:p>
          <a:p>
            <a:pPr>
              <a:defRPr sz="1500">
                <a:solidFill>
                  <a:srgbClr val="232B34"/>
                </a:solidFill>
              </a:defRPr>
            </a:pPr>
            <a:r>
              <a:t>real scan testing without manual annotations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49039"/>
            <a:ext cx="5029200" cy="1645920"/>
          </a:xfrm>
          <a:prstGeom prst="roundRect">
            <a:avLst/>
          </a:prstGeom>
          <a:solidFill>
            <a:srgbClr val="F1F6FB"/>
          </a:solidFill>
          <a:ln>
            <a:solidFill>
              <a:srgbClr val="26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3977639"/>
            <a:ext cx="4572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60A0"/>
                </a:solidFill>
              </a:defRPr>
            </a:pPr>
            <a:r>
              <a:t>Interactive</a:t>
            </a:r>
          </a:p>
          <a:p>
            <a:pPr>
              <a:defRPr sz="1500">
                <a:solidFill>
                  <a:srgbClr val="232B34"/>
                </a:solidFill>
              </a:defRPr>
            </a:pPr>
            <a:r>
              <a:t>3D pin with specifications, status, and manual 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Repository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60A0"/>
                </a:solidFill>
              </a:defRPr>
            </a:pPr>
            <a:r>
              <a:t>data/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41732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B34"/>
                </a:solidFill>
              </a:defRPr>
            </a:pPr>
            <a:r>
              <a:t>reference, background, synthetic, scans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60A0"/>
                </a:solidFill>
              </a:defRPr>
            </a:pPr>
            <a:r>
              <a:t>scripts/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10312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B34"/>
                </a:solidFill>
              </a:defRPr>
            </a:pPr>
            <a:r>
              <a:t>E57 extraction, synthetic generation, training, inference/tagging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60A0"/>
                </a:solidFill>
              </a:defRPr>
            </a:pPr>
            <a:r>
              <a:t>docs/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78892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B34"/>
                </a:solidFill>
              </a:defRPr>
            </a:pPr>
            <a:r>
              <a:t>technical manuals and asset registry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60A0"/>
                </a:solidFill>
              </a:defRPr>
            </a:pPr>
            <a:r>
              <a:t>web_viewer/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47472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B34"/>
                </a:solidFill>
              </a:defRPr>
            </a:pPr>
            <a:r>
              <a:t>prototype interactive 3D digital twin viewer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60A0"/>
                </a:solidFill>
              </a:defRPr>
            </a:pPr>
            <a:r>
              <a:t>requirements.txt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16052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B34"/>
                </a:solidFill>
              </a:defRPr>
            </a:pPr>
            <a:r>
              <a:t>Python dependencies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60A0"/>
                </a:solidFill>
              </a:defRPr>
            </a:pPr>
            <a:r>
              <a:t>README.md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84632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B34"/>
                </a:solidFill>
              </a:defRPr>
            </a:pPr>
            <a:r>
              <a:t>project documentation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Pipeline Execution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25880"/>
            <a:ext cx="594360" cy="594360"/>
          </a:xfrm>
          <a:prstGeom prst="ellipse">
            <a:avLst/>
          </a:prstGeom>
          <a:solidFill>
            <a:srgbClr val="26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3258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3A"/>
                </a:solidFill>
              </a:defRPr>
            </a:pPr>
            <a:r>
              <a:t>Extract scan imagery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32588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4"/>
                </a:solidFill>
                <a:latin typeface="Courier New"/>
              </a:defRPr>
            </a:pPr>
            <a:r>
              <a:t>python scripts/01_extract_e57.py ...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468880"/>
            <a:ext cx="594360" cy="594360"/>
          </a:xfrm>
          <a:prstGeom prst="ellipse">
            <a:avLst/>
          </a:prstGeom>
          <a:solidFill>
            <a:srgbClr val="26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57860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4688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3A"/>
                </a:solidFill>
              </a:defRPr>
            </a:pPr>
            <a:r>
              <a:t>Generate synthetic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4"/>
                </a:solidFill>
                <a:latin typeface="Courier New"/>
              </a:defRPr>
            </a:pPr>
            <a:r>
              <a:t>python scripts/02_generate_synth.py ...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611880"/>
            <a:ext cx="594360" cy="594360"/>
          </a:xfrm>
          <a:prstGeom prst="ellipse">
            <a:avLst/>
          </a:prstGeom>
          <a:solidFill>
            <a:srgbClr val="26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72160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6118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3A"/>
                </a:solidFill>
              </a:defRPr>
            </a:pPr>
            <a:r>
              <a:t>Train detector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61188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4"/>
                </a:solidFill>
                <a:latin typeface="Courier New"/>
              </a:defRPr>
            </a:pPr>
            <a:r>
              <a:t>python scripts/03_train_detector.py ...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754880"/>
            <a:ext cx="594360" cy="594360"/>
          </a:xfrm>
          <a:prstGeom prst="ellipse">
            <a:avLst/>
          </a:prstGeom>
          <a:solidFill>
            <a:srgbClr val="26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86460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7548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3A"/>
                </a:solidFill>
              </a:defRPr>
            </a:pPr>
            <a:r>
              <a:t>Run inference &amp; output tags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75488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4"/>
                </a:solidFill>
                <a:latin typeface="Courier New"/>
              </a:defRPr>
            </a:pPr>
            <a:r>
              <a:t>python scripts/04_infer_and_tag.py 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Impact &amp;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32B34"/>
                </a:solidFill>
              </a:defRPr>
            </a:pPr>
            <a:r>
              <a:t>Reduces site-preparation overhead through automated asset identification.</a:t>
            </a:r>
          </a:p>
          <a:p>
            <a:pPr>
              <a:spcAft>
                <a:spcPts val="1200"/>
              </a:spcAft>
              <a:defRPr sz="2100" b="0">
                <a:solidFill>
                  <a:srgbClr val="232B34"/>
                </a:solidFill>
              </a:defRPr>
            </a:pPr>
            <a:r>
              <a:t>Improves access to maintenance documentation by linking physical assets to digital records.</a:t>
            </a:r>
          </a:p>
          <a:p>
            <a:pPr>
              <a:spcAft>
                <a:spcPts val="1200"/>
              </a:spcAft>
              <a:defRPr sz="2100" b="0">
                <a:solidFill>
                  <a:srgbClr val="232B34"/>
                </a:solidFill>
              </a:defRPr>
            </a:pPr>
            <a:r>
              <a:t>Supports faster and more scalable digital-twin deployment across industrial environments.</a:t>
            </a:r>
          </a:p>
          <a:p>
            <a:pPr>
              <a:spcAft>
                <a:spcPts val="1200"/>
              </a:spcAft>
              <a:defRPr sz="2100" b="0">
                <a:solidFill>
                  <a:srgbClr val="232B34"/>
                </a:solidFill>
              </a:defRPr>
            </a:pPr>
            <a:r>
              <a:t>Demonstrates how synthetic data can help overcome limited real-world industrial labeling.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B802CA-6454-7AB5-EAF1-2A19D8B41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96" y="487286"/>
            <a:ext cx="4837503" cy="2701025"/>
          </a:xfrm>
          <a:prstGeom prst="rect">
            <a:avLst/>
          </a:prstGeom>
        </p:spPr>
      </p:pic>
      <p:pic>
        <p:nvPicPr>
          <p:cNvPr id="6" name="Picture 5" descr="A group of graphs showing different results&#10;&#10;AI-generated content may be incorrect.">
            <a:extLst>
              <a:ext uri="{FF2B5EF4-FFF2-40B4-BE49-F238E27FC236}">
                <a16:creationId xmlns:a16="http://schemas.microsoft.com/office/drawing/2014/main" id="{175CBE78-8AF4-6C69-27FF-F8CBC2128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464" y="315118"/>
            <a:ext cx="5954635" cy="30443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2A636A-9955-23A6-3494-F56D8CB72421}"/>
              </a:ext>
            </a:extLst>
          </p:cNvPr>
          <p:cNvSpPr txBox="1"/>
          <p:nvPr/>
        </p:nvSpPr>
        <p:spPr>
          <a:xfrm>
            <a:off x="8365067" y="19642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2C5430-635F-9282-6ECC-AE82D1656737}"/>
              </a:ext>
            </a:extLst>
          </p:cNvPr>
          <p:cNvSpPr txBox="1"/>
          <p:nvPr/>
        </p:nvSpPr>
        <p:spPr>
          <a:xfrm>
            <a:off x="404733" y="204698"/>
            <a:ext cx="4722866" cy="287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b="0" dirty="0">
                <a:effectLst/>
              </a:rPr>
              <a:t>Validation Predictions (val_batch1_pred.jpg)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5AB954-A1DE-9159-2737-2674F15B9947}"/>
              </a:ext>
            </a:extLst>
          </p:cNvPr>
          <p:cNvSpPr txBox="1"/>
          <p:nvPr/>
        </p:nvSpPr>
        <p:spPr>
          <a:xfrm>
            <a:off x="6716198" y="44900"/>
            <a:ext cx="3814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YOLOv8 Training Metrics &amp; Loss Curves</a:t>
            </a: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A7D05B-E424-390C-5D59-40A1B3F695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96" y="3669689"/>
            <a:ext cx="4837503" cy="310397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48A826E-DB11-72E1-F932-070F47347537}"/>
              </a:ext>
            </a:extLst>
          </p:cNvPr>
          <p:cNvSpPr txBox="1"/>
          <p:nvPr/>
        </p:nvSpPr>
        <p:spPr>
          <a:xfrm>
            <a:off x="1127464" y="3311454"/>
            <a:ext cx="1936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 Batch images</a:t>
            </a:r>
          </a:p>
        </p:txBody>
      </p:sp>
      <p:pic>
        <p:nvPicPr>
          <p:cNvPr id="19" name="Picture 18" descr="A blue squares and a graph&#10;&#10;AI-generated content may be incorrect.">
            <a:extLst>
              <a:ext uri="{FF2B5EF4-FFF2-40B4-BE49-F238E27FC236}">
                <a16:creationId xmlns:a16="http://schemas.microsoft.com/office/drawing/2014/main" id="{0B9D01C5-5FB7-B8CC-9325-C50204C462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6198" y="3813699"/>
            <a:ext cx="4398645" cy="295996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2AAEF6B-5B43-4AD8-80E7-67A65009B3FB}"/>
              </a:ext>
            </a:extLst>
          </p:cNvPr>
          <p:cNvSpPr txBox="1"/>
          <p:nvPr/>
        </p:nvSpPr>
        <p:spPr>
          <a:xfrm>
            <a:off x="7350711" y="3526391"/>
            <a:ext cx="2870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Dataset Distribution Analysis</a:t>
            </a:r>
          </a:p>
        </p:txBody>
      </p:sp>
    </p:spTree>
    <p:extLst>
      <p:ext uri="{BB962C8B-B14F-4D97-AF65-F5344CB8AC3E}">
        <p14:creationId xmlns:p14="http://schemas.microsoft.com/office/powerpoint/2010/main" val="2097138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9E301E5-1206-47D0-9CDF-72583D739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A31FBE-7948-4384-B68A-75DEFDC49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omputer screen shot of a machine&#10;&#10;AI-generated content may be incorrect.">
            <a:extLst>
              <a:ext uri="{FF2B5EF4-FFF2-40B4-BE49-F238E27FC236}">
                <a16:creationId xmlns:a16="http://schemas.microsoft.com/office/drawing/2014/main" id="{8EA6E51D-0E62-D4DE-94CE-D54C050984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33" r="1" b="1"/>
          <a:stretch>
            <a:fillRect/>
          </a:stretch>
        </p:blipFill>
        <p:spPr>
          <a:xfrm>
            <a:off x="6096000" y="716878"/>
            <a:ext cx="5425571" cy="54709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260BF8-580A-E204-AC42-A5BBF805F5E1}"/>
              </a:ext>
            </a:extLst>
          </p:cNvPr>
          <p:cNvSpPr txBox="1"/>
          <p:nvPr/>
        </p:nvSpPr>
        <p:spPr>
          <a:xfrm>
            <a:off x="5228445" y="-45156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3D Web view</a:t>
            </a:r>
          </a:p>
        </p:txBody>
      </p:sp>
      <p:pic>
        <p:nvPicPr>
          <p:cNvPr id="12" name="Picture 11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9689A253-83A5-14E9-05CD-4C019D6AA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0" y="3419650"/>
            <a:ext cx="5246586" cy="2768175"/>
          </a:xfrm>
          <a:prstGeom prst="rect">
            <a:avLst/>
          </a:prstGeom>
        </p:spPr>
      </p:pic>
      <p:pic>
        <p:nvPicPr>
          <p:cNvPr id="15" name="Picture 14" descr="A group of people standing in front of a building&#10;&#10;AI-generated content may be incorrect.">
            <a:extLst>
              <a:ext uri="{FF2B5EF4-FFF2-40B4-BE49-F238E27FC236}">
                <a16:creationId xmlns:a16="http://schemas.microsoft.com/office/drawing/2014/main" id="{248FABCB-02C2-05C7-6F89-284350391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" y="577850"/>
            <a:ext cx="5246586" cy="276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027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966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Product Tagging in VEO360 Digital Twin</a:t>
            </a:r>
          </a:p>
          <a:p>
            <a:pPr algn="ctr">
              <a:defRPr sz="1900">
                <a:solidFill>
                  <a:srgbClr val="BED7F0"/>
                </a:solidFill>
              </a:defRPr>
            </a:pPr>
            <a:r>
              <a:t>Project Hail Mary</a:t>
            </a:r>
          </a:p>
          <a:p>
            <a:pPr algn="ctr">
              <a:defRPr sz="1700">
                <a:solidFill>
                  <a:srgbClr val="FFFFFF"/>
                </a:solidFill>
              </a:defRPr>
            </a:pPr>
            <a:r>
              <a:t>Pradip Nath &amp; Thang Ngo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660</Words>
  <Application>Microsoft Macintosh PowerPoint</Application>
  <PresentationFormat>Widescreen</PresentationFormat>
  <Paragraphs>115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Pradip Nath</cp:lastModifiedBy>
  <cp:revision>4</cp:revision>
  <dcterms:created xsi:type="dcterms:W3CDTF">2013-01-27T09:14:16Z</dcterms:created>
  <dcterms:modified xsi:type="dcterms:W3CDTF">2026-10-04T08:12:56Z</dcterms:modified>
  <cp:category/>
</cp:coreProperties>
</file>